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Inter"/>
              </a:rPr>
              <a:t>CUEMATH  ·  CEO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Performance Marketing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A78BFA"/>
                </a:solidFill>
                <a:latin typeface="Inter"/>
              </a:rPr>
              <a:t>Creative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1D5DB"/>
                </a:solidFill>
                <a:latin typeface="Inter"/>
              </a:rPr>
              <a:t>Top creatives across markets · what's working, what's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Jan 1 – Apr 27, 2026  ·  157 qualifying creatives  ·  Meta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Filter: ≥10 QL · ≥5 TQL · ≥2 TD  ·  Ranked by 50% CPTQL + 50% CPTD per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Inter"/>
              </a:rPr>
              <a:t>Naina Jethalia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Inter"/>
              </a:rPr>
              <a:t>01  ·  PORTFOLIO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Jan–Apr 2026 creative spend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7660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B46C1"/>
                </a:solidFill>
                <a:latin typeface="Inter"/>
              </a:rPr>
              <a:t>₹9.4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Total Meta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1691640"/>
            <a:ext cx="27660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B46C1"/>
                </a:solidFill>
                <a:latin typeface="Inter"/>
              </a:rPr>
              <a:t>2,634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4700" y="2468880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Creatives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91640"/>
            <a:ext cx="27660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B46C1"/>
                </a:solidFill>
                <a:latin typeface="Inter"/>
              </a:rPr>
              <a:t>3,280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468880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Trial Dones (qualifying)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6820" y="1691640"/>
            <a:ext cx="27660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B46C1"/>
                </a:solidFill>
                <a:latin typeface="Inter"/>
              </a:rPr>
              <a:t>₹28,509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6820" y="2468880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Blended CPTD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Inter"/>
              </a:rPr>
              <a:t>WHERE THE MONEY WENT — SPEND ×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Inter"/>
              </a:rPr>
              <a:t>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Inter"/>
              </a:rPr>
              <a:t>CREATIVES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03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Inter"/>
              </a:rPr>
              <a:t>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Inter"/>
              </a:rPr>
              <a:t>QLs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703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Inter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14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1,215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14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₹4.0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14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4,356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844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114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₹47,026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1148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🔴  high CPTD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988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India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4988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₹1.5 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4,230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1,388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₹11,039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988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🟢  best efficiency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8289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AUS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8828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561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88289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₹1.9 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8828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1,781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828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8828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₹39,218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88289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🔴  high CPTD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26694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MEA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2669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191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26694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₹95.5 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2669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1,255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2669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401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2669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₹23,826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26694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🟢  healthy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6509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ROW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6509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86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565099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₹31.6 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56509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315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6509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82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6509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₹38,512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565099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🔴  high CPTD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035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Other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0" y="6035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500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6035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₹71.2 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6035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448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6035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6035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₹79,951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6035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🔴  high CPTD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US — TOP CREATIVES  ·  1 of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Lakshami Telugu Testimonial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₹23,970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₹37,668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Telugu testimonial felt familiar to diaspora parents — cultural fit converted.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Deepthi Telugu Testimonial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₹11,352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₹18,920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Influencer talent reached an audience the brand alone couldn't.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Keerthi (Telugu Influencer)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4.72%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₹13,776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₹23,795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Influencer reach drove top-tier engagement — CTR 4.7% vs typical 0.7%.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Shweta Negi (Influencer)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1.29%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₹131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₹12,933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₹24,941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Influencer talent reached an audience the brand alone couldn't.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US — TOP CREATIVES  ·  2 of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Priyanshul (Influencer)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1.96%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₹22,273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₹39,774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Influencer reach drove top-tier engagement — CTR 2.0% vs typical 0.7%.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AI-Video-MathFit_250226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2.52%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₹6,586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₹62,564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MathFit framing reset 'math = punishment' to 'math = strength' — fresh angle.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AI-Video-High-School_030426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1.86%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₹189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₹5,311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Indian-touchpoint creative landed with diaspora parents.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 Chinese Ace Math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0.69%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₹187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₹9,235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₹41,557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Olympiad/exam-prep angle tapped academic anxiety in the household.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US — TOP CREATIVES  ·  3 of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 India Best Math Tutors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₹461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₹16,805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₹36,971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Indian-parent story made NRI families feel culturally seen — proof + familiarity.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Gunjan Testimonial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₹7,884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₹17,458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Hindi testimonial felt familiar to diaspora parents — cultural fit converted.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 Master Math Winter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₹550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₹11,352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₹31,993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Indian-touchpoint creative landed with diaspora parents.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 Strong Foundations Chinese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0.88%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₹549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₹11,907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₹68,038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Clean static repeats well — no talent, no burnout, steady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India — TOP CREATIVES  ·  1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Video_Testimonial-Kaviya-Tamil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75564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₹1,349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₹2,429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Tamil testimonial felt familiar to diaspora parents — cultural fit converted.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Video_Testimonial-Vaidehi-Telugu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175564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₹2,012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Telugu testimonial felt familiar to diaspora parents — cultural fit converted.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Video_Testimonial-Amyra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90672" y="454456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157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₹2,041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₹2,887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Video_Testimonial-Manish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29319" y="454456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₹51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165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₹2,020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₹3,030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India — TOP CREATIVES  ·  2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Ind_FB_Vernac_Video_Testimonial-Madhavi-Telugu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75564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₹1,970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₹3,393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Telugu testimonial felt familiar to diaspora parents — cultural fit converted.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Slotbook_Video_Testimonial-Dhaval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175564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₹2,687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₹2,687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Static_O-Ace-Math-Olympiad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90672" y="454456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₹2,354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₹3,582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Olympiad/exam-prep angle tapped academic anxiety in the household.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Video_IB-Testimonial-Kamala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29319" y="4544568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Inter"/>
              </a:rPr>
              <a:t>(adset-level · representative ad shown)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71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₹2,537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45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₹4,003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AUS — TOP CREATIVES  ·  1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AUS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Video_Tamil-Parent-Shoot-in-English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₹6,322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₹10,537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Tamil testimonial felt familiar to diaspora parents — cultural fit converted.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Static_W-NAPLAN-Boost-Math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₹8,205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₹10,550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NAPLAN-prep urgency hit AUS parents in test-season window.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Expats-India_Australia_Video_Testimonial-NAPLAN-Da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0.83%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₹6,468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₹16,170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NAPLAN-prep urgency hit AUS parents in test-season window.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int-Parents_Australia_Video_Testimonial-Lakshmi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0.71%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₹173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₹8,024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₹12,482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AUS — TOP CREATIVES  ·  2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AUS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Int-4C_Australia_Video_Testimonial-Mohit-Kukreja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₹9,437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₹15,729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Indian-parent story made NRI families feel culturally seen — proof + familiarity.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Parents-All-Pri+Sec_Australia_Static_Y-Testimonial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₹10,181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₹15,663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Expats-India_Australia_Static_W-NAPLAN-2027-Testim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0.47%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₹9,382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₹18,764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NAPLAN-prep urgency hit AUS parents in test-season window.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Static_NAPLAN-Chinese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0.86%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₹291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₹11,251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₹15,752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NAPLAN-prep urgency hit AUS parents in test-season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MEA — TOP CREATIVES  ·  1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MEA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Video_Cuemath-Hero-5-21s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₹4,826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₹8,166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21-second product video re-cuts across markets without re-shooting — durable workhorse.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Video_Updated-Testimonial-Surveen-15s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₹6,153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₹11,075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Steady performer — converted at competitive cost across the period.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with_preteens_Video_Brand-Mission-27s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₹9,339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₹12,735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Brand-mission video built trust early — first-touch creative for new audience.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Static-B-Around-Your-Child-V3-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0.52%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₹254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₹7,630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₹33,061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Clean static repeats well — no talent, no burnout, steady delivery.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MEA — TOP CREATIVES  ·  2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MEA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Static_O-Strong-Foundations_V2-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₹11,528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₹19,509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Steady performer — converted at competitive cost across the period.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Static-Loved-by-UAE-Families-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₹11,346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₹20,423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Steady performer — converted at competitive cost across the period.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Video-Satish-English-Testimonial-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₹9,940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₹27,243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Older-grade hook caught parents already thinking about college prep.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Static_Y-Girl-MathFit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0.64%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₹268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₹12,210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₹21,368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MathFit framing reset 'math = punishment' to 'math = strength' — fresh angle.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ROW — TOP CREATIVES  ·  1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LAL-PayU_New-Zealand_Video_Testimonial-Vandana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₹12,844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₹14,679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LAL-PayU_New-Zealand_Video_Testimonial-Gunjan-Vide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0.44%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₹12,194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₹29,265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int4C_Singapore_Video_Mother-Video-V2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₹376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₹15,883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₹31,766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HNI_New-Zealand_Video_Mother-Video-V2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₹153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₹19,257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₹23,108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Inter"/>
              </a:rPr>
              <a:t>ROW — TOP CREATIVES  ·  2 of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984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LAL-PayU_New-Zealand_Video_Testimonial-Anushree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87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053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053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3434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434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₹19,880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7053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053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434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3434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₹33,134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Parent's first-hand story made the proof real to other parents.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37160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9319" y="135331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Australia_Form_Static_Classroom-Math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0135" y="1325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319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319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5700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5700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2081" y="19659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2081" y="21122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319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319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₹19,051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5700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5700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2081" y="242316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2081" y="256946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₹47,628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319" y="292608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9319" y="310896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Clean static repeats well — no talent, no burnout, steady delivery.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HNI_New-Zealand_Video_Cuemath-Hero-5-21s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1487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0.44%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053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7053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434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434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0672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₹24,888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053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7053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434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3434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₹62,220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21-second product video re-cuts across markets without re-shooting — durable workhorse.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3977640"/>
            <a:ext cx="5455767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1879" y="4160520"/>
            <a:ext cx="219456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1879" y="5093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 Drop visual here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9319" y="4142232"/>
            <a:ext cx="22005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HNI_New-Zealand_Video_Tamil-Parent-Shoot-in-Englis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40135" y="411480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#8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9319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29319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0.78%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5700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5700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2081" y="47548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TQLs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2081" y="49011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9319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9319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₹33,436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5700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5700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2081" y="5212080"/>
            <a:ext cx="9163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CPTD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2081" y="5358384"/>
            <a:ext cx="916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Inter"/>
              </a:rPr>
              <a:t>₹1.0L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9319" y="5715000"/>
            <a:ext cx="27491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Inter"/>
              </a:rPr>
              <a:t>WHY IT WORKED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29319" y="5897880"/>
            <a:ext cx="27491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Inter"/>
              </a:rPr>
              <a:t>Tamil testimonial felt familiar to diaspora parents — cultural fit converted.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Inter"/>
              </a:rPr>
              <a:t>02  ·  WHAT'S WORKING — BY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What's working — by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00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Influencer-led videos converting — 6 of top 20 are influencer creatives.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9280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9280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Hindi vernacular is pulling weight — appears in 1 of top winners.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85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8541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MathFit framing converts — repositioning math as strength-building 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60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56032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Telugu vernacular is pulling weight — appears in 2 of top winners.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529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5292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Testimonials dominate the top of the table — parent stories beat brand-led messaging.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4553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14553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Parent-talent testimonials are the consistent workhorse across the funnel.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6118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AUS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5204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2044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Influencer-led videos converting — 2 of top 20 are influencer creatives.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8130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1304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Tamil vernacular is pulling weight — appears in 4 of top winners.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1056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10565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Testimonials dominate the top of the table — parent stories beat brand-led messaging.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3484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MEA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4805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8056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MathFit framing converts — repositioning math as strength-building works.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7731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77316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Parent-talent testimonials are the consistent workhorse across the funnel.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0657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06577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Top performer: Video_Cuemath-Hero-5-21s — CPTD ₹8,166, TDs 13.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9496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55321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ROW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440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44068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Tamil vernacular is pulling weight — appears in 1 of top winners.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7332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73328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Testimonials dominate the top of the table — parent stories beat brand-led messaging.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0258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602589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Parent-talent testimonials are the consistent workhorse across the funnel.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Inter"/>
              </a:rPr>
              <a:t>03  ·  WHAT'S NOT WORKING — BY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What's not working — by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00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Bottom of top 20: Static-High-School-Master-Algebra-White- — CPTD ₹39,485 drags the cohort.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9280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9280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Seasonal/contextual angles missing from top — leaving event-led volume on the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85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8541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60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56032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Influencer creatives didn't pass thresholds this period — needs format rethink.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529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5292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Bottom of top 15: INT_IB/IGCSE/Premium+Parents_Static_P-Ma — CPTD ₹6,678 drags the cohort.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4553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14553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CTR averages 0.61% — hooks are not catching attention; refresh the opening 3s.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6118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AUS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5204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2044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Bottom of top 20: LAL-QL-0to2%_Australia_Video_Testimonial — CPTD ₹32,024 drags the cohort.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8130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1304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AI Generated creatives absent from winners — under-tested or not converting.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1056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10565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3484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MEA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4805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8056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Influencer creatives didn't pass thresholds this period — needs format rethink.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7731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77316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Bottom of top 15: Video-Australia-English-Testimonial — CPTD ₹103,399 drags the cohort.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0657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06577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CTR averages 0.68% — hooks are not catching attention; refresh the opening 3s.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94960"/>
            <a:ext cx="1106424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55321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ROW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440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44068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Influencer creatives didn't pass thresholds this period — needs format rethink.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7332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733288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Bottom of top 8: HNI_New-Zealand_Video_Tamil-Parent-Shoot — CPTD ₹100,308 drags the cohort.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0258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6025896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Inter"/>
              </a:rPr>
              <a:t>CTR averages 0.56% — hooks are not catching attention; refresh the opening 3s.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Inter"/>
              </a:rPr>
              <a:t>04  ·  BRAND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Recent brand creatives —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[ Naina to populate — drop in brand asset visuals + 1-line intent below each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140817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4261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[ Brand Asset 1 ]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1529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Asset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5269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Intent / where it ran / 1-line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140817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64261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[ Brand Asset 2 ]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51529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Asset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75269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Intent / where it ran / 1-line 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5394960" cy="140817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2861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[ Brand Asset 3 ]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37529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Asset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869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Intent / where it ran / 1-line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389120"/>
            <a:ext cx="5394960" cy="140817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92861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[ Brand Asset 4 ]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837529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Inter"/>
              </a:rPr>
              <a:t>Asset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603869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Intent / where it ran / 1-line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